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59" r:id="rId6"/>
    <p:sldId id="268" r:id="rId7"/>
    <p:sldId id="261" r:id="rId8"/>
    <p:sldId id="266" r:id="rId9"/>
    <p:sldId id="263" r:id="rId10"/>
    <p:sldId id="271" r:id="rId11"/>
    <p:sldId id="262" r:id="rId12"/>
    <p:sldId id="270" r:id="rId13"/>
    <p:sldId id="269" r:id="rId14"/>
    <p:sldId id="264" r:id="rId15"/>
    <p:sldId id="267" r:id="rId16"/>
  </p:sldIdLst>
  <p:sldSz cx="14630400" cy="8229600"/>
  <p:notesSz cx="8229600" cy="14630400"/>
  <p:embeddedFontLst>
    <p:embeddedFont>
      <p:font typeface="Open Sans" panose="020B0606030504020204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2AB65E-917E-428C-B4DA-DD80C5B4DE19}">
          <p14:sldIdLst>
            <p14:sldId id="256"/>
            <p14:sldId id="257"/>
            <p14:sldId id="258"/>
            <p14:sldId id="260"/>
            <p14:sldId id="259"/>
            <p14:sldId id="268"/>
            <p14:sldId id="261"/>
            <p14:sldId id="266"/>
            <p14:sldId id="263"/>
            <p14:sldId id="271"/>
            <p14:sldId id="262"/>
            <p14:sldId id="270"/>
            <p14:sldId id="269"/>
            <p14:sldId id="264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D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67" autoAdjust="0"/>
  </p:normalViewPr>
  <p:slideViewPr>
    <p:cSldViewPr snapToGrid="0">
      <p:cViewPr varScale="1">
        <p:scale>
          <a:sx n="45" d="100"/>
          <a:sy n="45" d="100"/>
        </p:scale>
        <p:origin x="404" y="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403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55471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67421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70342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41263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Frankfurt_University_of_Applied_Sciences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89485" y="243688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600">
                <a:solidFill>
                  <a:srgbClr val="2C3F4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Reminder Agent</a:t>
            </a:r>
            <a:endParaRPr lang="en-US" sz="66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05527" y="35024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AI-Powered Natural Language Asset Management System Using the Microsoft Agent Framework</a:t>
            </a:r>
            <a:endParaRPr lang="en-US" sz="2000"/>
          </a:p>
        </p:txBody>
      </p:sp>
      <p:sp>
        <p:nvSpPr>
          <p:cNvPr id="5" name="Text 2"/>
          <p:cNvSpPr/>
          <p:nvPr/>
        </p:nvSpPr>
        <p:spPr>
          <a:xfrm>
            <a:off x="793790" y="4454434"/>
            <a:ext cx="7556421" cy="3534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DE" sz="1750" b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Course: </a:t>
            </a:r>
            <a:r>
              <a:rPr lang="en-DE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</a:t>
            </a:r>
            <a:r>
              <a:rPr lang="en-GB" sz="175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nformation</a:t>
            </a:r>
            <a:r>
              <a:rPr lang="en-GB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Technology </a:t>
            </a:r>
            <a:endParaRPr lang="en-DE" sz="1750">
              <a:solidFill>
                <a:srgbClr val="2B2E3C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GB" sz="1750" b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Course Module</a:t>
            </a:r>
            <a:r>
              <a:rPr lang="en-DE" sz="1750" b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</a:t>
            </a:r>
            <a:r>
              <a:rPr lang="en-GB" sz="1750" b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GB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Software Engineering </a:t>
            </a:r>
            <a:endParaRPr lang="en-DE" sz="1750">
              <a:solidFill>
                <a:srgbClr val="2B2E3C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DE" sz="1750" b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Professor:</a:t>
            </a:r>
            <a:r>
              <a:rPr lang="en-GB" sz="1750" b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GB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Damir </a:t>
            </a:r>
            <a:r>
              <a:rPr lang="en-GB" sz="175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Dobric</a:t>
            </a:r>
            <a:endParaRPr lang="en-DE" sz="1750">
              <a:solidFill>
                <a:srgbClr val="2B2E3C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DE" sz="1750" b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Name: </a:t>
            </a:r>
            <a:r>
              <a:rPr lang="en-DE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ML 25/26 -11 Implement Reminder Agent</a:t>
            </a:r>
            <a:endParaRPr lang="en-DE" sz="1750" b="1">
              <a:solidFill>
                <a:srgbClr val="2B2E3C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DE" sz="1750" b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 Name: </a:t>
            </a:r>
            <a:r>
              <a:rPr lang="en-DE" sz="175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Tech_Trio</a:t>
            </a:r>
            <a:endParaRPr lang="en-DE" sz="1750">
              <a:solidFill>
                <a:srgbClr val="2B2E3C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Team:</a:t>
            </a: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KavyaSree</a:t>
            </a: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Thabjul (1633324), </a:t>
            </a:r>
            <a:endParaRPr lang="en-DE" sz="1750">
              <a:solidFill>
                <a:srgbClr val="2B2E3C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DE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        </a:t>
            </a:r>
            <a:r>
              <a:rPr lang="en-US" sz="175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Bavana</a:t>
            </a: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Jadala</a:t>
            </a: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(1629828), </a:t>
            </a:r>
            <a:endParaRPr lang="en-DE" sz="1750">
              <a:solidFill>
                <a:srgbClr val="2B2E3C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DE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        </a:t>
            </a: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Aishwarya Rajendra Sawant (1629688)</a:t>
            </a:r>
            <a:endParaRPr lang="en-DE" sz="1750">
              <a:solidFill>
                <a:srgbClr val="2B2E3C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DE" sz="1750">
              <a:solidFill>
                <a:srgbClr val="2B2E3C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/>
          </a:p>
        </p:txBody>
      </p:sp>
      <p:pic>
        <p:nvPicPr>
          <p:cNvPr id="7" name="Picture 6" descr="A logo with text on it&#10;&#10;AI-generated content may be incorrect.">
            <a:extLst>
              <a:ext uri="{FF2B5EF4-FFF2-40B4-BE49-F238E27FC236}">
                <a16:creationId xmlns:a16="http://schemas.microsoft.com/office/drawing/2014/main" id="{22DE4999-9139-7ED8-E982-4B0F278D3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723898" y="443665"/>
            <a:ext cx="4762500" cy="2000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644610" y="144355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2C3F4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Problem</a:t>
            </a:r>
            <a:endParaRPr lang="en-US" sz="445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644610" y="2975890"/>
            <a:ext cx="31217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2C3F4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Current Tools Fall Short</a:t>
            </a:r>
            <a:endParaRPr lang="en-US" sz="2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644610" y="3798489"/>
            <a:ext cx="35015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Existing personal information tools require exact keyword recall at retrieval and structured input at capture</a:t>
            </a:r>
            <a:r>
              <a:rPr lang="en-DE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ineffective for real-world scenarios.</a:t>
            </a:r>
            <a:endParaRPr lang="en-US" sz="1750"/>
          </a:p>
        </p:txBody>
      </p:sp>
      <p:sp>
        <p:nvSpPr>
          <p:cNvPr id="6" name="Text 3"/>
          <p:cNvSpPr/>
          <p:nvPr/>
        </p:nvSpPr>
        <p:spPr>
          <a:xfrm>
            <a:off x="7157102" y="29509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2C3F4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Memory Gap</a:t>
            </a:r>
            <a:endParaRPr lang="en-US" sz="2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077976" y="3641532"/>
            <a:ext cx="5422429" cy="2565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GB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</a:t>
            </a:r>
            <a:r>
              <a:rPr lang="en-DE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</a:t>
            </a:r>
            <a:r>
              <a:rPr lang="en-GB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restaurant someone mentioned at lunch, or the book title that came up in conversation</a:t>
            </a:r>
            <a:r>
              <a:rPr lang="en-DE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</a:t>
            </a:r>
            <a:r>
              <a:rPr lang="en-GB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gone by the time you reach your phone. And when you do find a moment to write something down, the app wants a category, a tag, a properly filled field. Forms and tags do not make capture easier. They make you give up and forget it anyway.</a:t>
            </a:r>
            <a:endParaRPr lang="en-US" sz="1750">
              <a:solidFill>
                <a:srgbClr val="2B2E3C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7452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2C3F4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Solution</a:t>
            </a:r>
            <a:endParaRPr lang="en-US" sz="445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3036927"/>
            <a:ext cx="4196358" cy="3318153"/>
          </a:xfrm>
          <a:prstGeom prst="roundRect">
            <a:avLst>
              <a:gd name="adj" fmla="val 2871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28224" y="32713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5390" y="3458408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2B2E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Natural Language</a:t>
            </a:r>
            <a:endParaRPr lang="en-US" sz="2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28224" y="4669036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Type one sentence: "remind me of that Italian place in Frankfurt Ginnheim, went last March, loved it."</a:t>
            </a:r>
            <a:endParaRPr lang="en-US" sz="1750"/>
          </a:p>
        </p:txBody>
      </p:sp>
      <p:sp>
        <p:nvSpPr>
          <p:cNvPr id="8" name="Shape 5"/>
          <p:cNvSpPr/>
          <p:nvPr/>
        </p:nvSpPr>
        <p:spPr>
          <a:xfrm>
            <a:off x="5216962" y="3036927"/>
            <a:ext cx="4196358" cy="3318153"/>
          </a:xfrm>
          <a:prstGeom prst="roundRect">
            <a:avLst>
              <a:gd name="adj" fmla="val 2871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451396" y="32713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562" y="3458408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4178617"/>
            <a:ext cx="30088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2B2E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AI-Powered Extraction</a:t>
            </a:r>
            <a:endParaRPr lang="en-US" sz="2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451396" y="4669036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GPT-4o-mini acts as intent router, automatically generating name, category, city, date, and experience from your input.</a:t>
            </a:r>
            <a:endParaRPr lang="en-US" sz="1750"/>
          </a:p>
        </p:txBody>
      </p:sp>
      <p:sp>
        <p:nvSpPr>
          <p:cNvPr id="13" name="Shape 9"/>
          <p:cNvSpPr/>
          <p:nvPr/>
        </p:nvSpPr>
        <p:spPr>
          <a:xfrm>
            <a:off x="9640133" y="3036927"/>
            <a:ext cx="4196358" cy="3318153"/>
          </a:xfrm>
          <a:prstGeom prst="roundRect">
            <a:avLst>
              <a:gd name="adj" fmla="val 2871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9874568" y="32713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61734" y="3458408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2B2E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Semantic Search</a:t>
            </a:r>
            <a:endParaRPr lang="en-US" sz="2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9874568" y="4669036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Retrieve by meaning, not exact keywords. OpenAI embeddings enable cosine similarity scoring for context-based matching.</a:t>
            </a:r>
            <a:endParaRPr lang="en-US" sz="17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90499"/>
            <a:ext cx="597086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2C3F4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Core Technology Stack</a:t>
            </a:r>
            <a:endParaRPr lang="en-US" sz="445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3252907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2B2E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C# / .NET 10</a:t>
            </a:r>
            <a:endParaRPr lang="en-US" sz="2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644253" y="3743325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Modern, type-safe language with async/await support for responsive user experience.</a:t>
            </a:r>
            <a:endParaRPr lang="en-US" sz="175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3252907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2B2E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GPT-4o-mini</a:t>
            </a:r>
            <a:endParaRPr lang="en-US" sz="2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8307348" y="3743325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Orchestration and RAG generation for intent routing and natural language understanding.</a:t>
            </a:r>
            <a:endParaRPr lang="en-US" sz="175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4922758"/>
            <a:ext cx="32896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2B2E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text-embedding-3-small</a:t>
            </a:r>
            <a:endParaRPr lang="en-US" sz="2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644253" y="5413177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1,536-dimensional vectors for semantic similarity and retrieval tasks.</a:t>
            </a:r>
            <a:endParaRPr lang="en-US" sz="175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8" y="4922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2B2E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CSV + JSON Storage</a:t>
            </a:r>
            <a:endParaRPr lang="en-US" sz="2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8307348" y="5413177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Lightweight file-based persistence without database server requirements.</a:t>
            </a:r>
            <a:endParaRPr lang="en-US" sz="17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047" y="594003"/>
            <a:ext cx="5400913" cy="675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2C3F4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System Architecture</a:t>
            </a:r>
            <a:endParaRPr lang="en-US" sz="42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1680567"/>
            <a:ext cx="13118306" cy="6003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65239" y="2448527"/>
            <a:ext cx="2901883" cy="362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>
                <a:solidFill>
                  <a:srgbClr val="2B2E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Outer: Infrastructure</a:t>
            </a:r>
            <a:endParaRPr lang="en-US" sz="225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365239" y="2914440"/>
            <a:ext cx="3198521" cy="56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CSV, JSON, Embeddings, Similarity, Logger services</a:t>
            </a:r>
            <a:endParaRPr lang="en-US" sz="1800"/>
          </a:p>
        </p:txBody>
      </p:sp>
      <p:sp>
        <p:nvSpPr>
          <p:cNvPr id="6" name="Text 3"/>
          <p:cNvSpPr/>
          <p:nvPr/>
        </p:nvSpPr>
        <p:spPr>
          <a:xfrm>
            <a:off x="1066313" y="4240440"/>
            <a:ext cx="2940575" cy="725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2250">
                <a:solidFill>
                  <a:srgbClr val="2B2E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Mid: Orchestration &amp; Tools</a:t>
            </a:r>
            <a:endParaRPr lang="en-US" sz="225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66313" y="5069089"/>
            <a:ext cx="2940575" cy="566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80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IChatClient + GPT-4o-mini; ReminderTool (7 methods)</a:t>
            </a:r>
            <a:endParaRPr lang="en-US" sz="1800"/>
          </a:p>
        </p:txBody>
      </p:sp>
      <p:sp>
        <p:nvSpPr>
          <p:cNvPr id="8" name="Text 5"/>
          <p:cNvSpPr/>
          <p:nvPr/>
        </p:nvSpPr>
        <p:spPr>
          <a:xfrm>
            <a:off x="10365239" y="5440691"/>
            <a:ext cx="2901883" cy="362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>
                <a:solidFill>
                  <a:srgbClr val="2B2E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Core: Presentation</a:t>
            </a:r>
            <a:endParaRPr lang="en-US" sz="225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365239" y="5906605"/>
            <a:ext cx="3198521" cy="56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Program.cs REPL handling user I/O</a:t>
            </a:r>
            <a:endParaRPr 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14FD95-C1C8-7EC3-30F0-903711FCDF33}"/>
              </a:ext>
            </a:extLst>
          </p:cNvPr>
          <p:cNvSpPr txBox="1"/>
          <p:nvPr/>
        </p:nvSpPr>
        <p:spPr>
          <a:xfrm>
            <a:off x="300792" y="505326"/>
            <a:ext cx="4075265" cy="2054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250">
                <a:solidFill>
                  <a:srgbClr val="2C3F4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System </a:t>
            </a:r>
          </a:p>
          <a:p>
            <a:r>
              <a:rPr lang="en-DE" sz="4250">
                <a:solidFill>
                  <a:srgbClr val="2C3F4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Process </a:t>
            </a:r>
          </a:p>
          <a:p>
            <a:r>
              <a:rPr lang="en-DE" sz="4250">
                <a:solidFill>
                  <a:srgbClr val="2C3F4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Flow</a:t>
            </a:r>
            <a:endParaRPr lang="en-GB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E41811-61F2-EBB4-FF78-A8A242071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851" y="0"/>
            <a:ext cx="10228523" cy="822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887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629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2C3F4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Seven Tool Functions</a:t>
            </a:r>
            <a:endParaRPr lang="en-US" sz="445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95869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01</a:t>
            </a:r>
            <a:endParaRPr lang="en-US" sz="1750"/>
          </a:p>
        </p:txBody>
      </p:sp>
      <p:sp>
        <p:nvSpPr>
          <p:cNvPr id="4" name="Shape 2"/>
          <p:cNvSpPr/>
          <p:nvPr/>
        </p:nvSpPr>
        <p:spPr>
          <a:xfrm>
            <a:off x="793790" y="2313742"/>
            <a:ext cx="4196358" cy="30480"/>
          </a:xfrm>
          <a:prstGeom prst="rect">
            <a:avLst/>
          </a:prstGeom>
          <a:solidFill>
            <a:srgbClr val="D2600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93790" y="24880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2B2E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CreateAsset</a:t>
            </a:r>
            <a:endParaRPr lang="en-US" sz="2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2978468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 new reminders with automatic field extraction</a:t>
            </a:r>
            <a:endParaRPr lang="en-US" sz="1750"/>
          </a:p>
        </p:txBody>
      </p:sp>
      <p:sp>
        <p:nvSpPr>
          <p:cNvPr id="7" name="Text 5"/>
          <p:cNvSpPr/>
          <p:nvPr/>
        </p:nvSpPr>
        <p:spPr>
          <a:xfrm>
            <a:off x="5216962" y="195869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02</a:t>
            </a:r>
            <a:endParaRPr lang="en-US" sz="1750"/>
          </a:p>
        </p:txBody>
      </p:sp>
      <p:sp>
        <p:nvSpPr>
          <p:cNvPr id="8" name="Shape 6"/>
          <p:cNvSpPr/>
          <p:nvPr/>
        </p:nvSpPr>
        <p:spPr>
          <a:xfrm>
            <a:off x="5216962" y="2313742"/>
            <a:ext cx="4196358" cy="30480"/>
          </a:xfrm>
          <a:prstGeom prst="rect">
            <a:avLst/>
          </a:prstGeom>
          <a:solidFill>
            <a:srgbClr val="D2600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216962" y="24880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2B2E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SearchAssets</a:t>
            </a:r>
            <a:endParaRPr lang="en-US" sz="2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216962" y="2978468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Structured queries with filters</a:t>
            </a:r>
            <a:endParaRPr lang="en-US" sz="1750"/>
          </a:p>
        </p:txBody>
      </p:sp>
      <p:sp>
        <p:nvSpPr>
          <p:cNvPr id="11" name="Text 9"/>
          <p:cNvSpPr/>
          <p:nvPr/>
        </p:nvSpPr>
        <p:spPr>
          <a:xfrm>
            <a:off x="9640133" y="195869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03</a:t>
            </a:r>
            <a:endParaRPr lang="en-US" sz="1750"/>
          </a:p>
        </p:txBody>
      </p:sp>
      <p:sp>
        <p:nvSpPr>
          <p:cNvPr id="12" name="Shape 10"/>
          <p:cNvSpPr/>
          <p:nvPr/>
        </p:nvSpPr>
        <p:spPr>
          <a:xfrm>
            <a:off x="9640133" y="2313742"/>
            <a:ext cx="4196358" cy="30480"/>
          </a:xfrm>
          <a:prstGeom prst="rect">
            <a:avLst/>
          </a:prstGeom>
          <a:solidFill>
            <a:srgbClr val="D2600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640133" y="24880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2B2E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GetReminders</a:t>
            </a:r>
            <a:endParaRPr lang="en-US" sz="2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640133" y="2978468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Timeline-scoped retrieval</a:t>
            </a:r>
            <a:endParaRPr lang="en-US" sz="1750"/>
          </a:p>
        </p:txBody>
      </p:sp>
      <p:sp>
        <p:nvSpPr>
          <p:cNvPr id="15" name="Text 13"/>
          <p:cNvSpPr/>
          <p:nvPr/>
        </p:nvSpPr>
        <p:spPr>
          <a:xfrm>
            <a:off x="793790" y="410110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04</a:t>
            </a:r>
            <a:endParaRPr lang="en-US" sz="1750"/>
          </a:p>
        </p:txBody>
      </p:sp>
      <p:sp>
        <p:nvSpPr>
          <p:cNvPr id="16" name="Shape 14"/>
          <p:cNvSpPr/>
          <p:nvPr/>
        </p:nvSpPr>
        <p:spPr>
          <a:xfrm>
            <a:off x="793790" y="4456152"/>
            <a:ext cx="4196358" cy="30480"/>
          </a:xfrm>
          <a:prstGeom prst="rect">
            <a:avLst/>
          </a:prstGeom>
          <a:solidFill>
            <a:srgbClr val="D2600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93790" y="4630460"/>
            <a:ext cx="36433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2B2E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SearchRemindersSemantic</a:t>
            </a:r>
            <a:endParaRPr lang="en-US" sz="2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5120878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Meaning-based vector search</a:t>
            </a:r>
            <a:endParaRPr lang="en-US" sz="1750"/>
          </a:p>
        </p:txBody>
      </p:sp>
      <p:sp>
        <p:nvSpPr>
          <p:cNvPr id="19" name="Text 17"/>
          <p:cNvSpPr/>
          <p:nvPr/>
        </p:nvSpPr>
        <p:spPr>
          <a:xfrm>
            <a:off x="5216962" y="410110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05</a:t>
            </a:r>
            <a:endParaRPr lang="en-US" sz="1750"/>
          </a:p>
        </p:txBody>
      </p:sp>
      <p:sp>
        <p:nvSpPr>
          <p:cNvPr id="20" name="Shape 18"/>
          <p:cNvSpPr/>
          <p:nvPr/>
        </p:nvSpPr>
        <p:spPr>
          <a:xfrm>
            <a:off x="5216962" y="4456152"/>
            <a:ext cx="4196358" cy="30480"/>
          </a:xfrm>
          <a:prstGeom prst="rect">
            <a:avLst/>
          </a:prstGeom>
          <a:solidFill>
            <a:srgbClr val="D2600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216962" y="46304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2B2E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AttachPhoto</a:t>
            </a:r>
            <a:endParaRPr lang="en-US" sz="2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216962" y="5120878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Link images to existing assets</a:t>
            </a:r>
            <a:endParaRPr lang="en-US" sz="1750"/>
          </a:p>
        </p:txBody>
      </p:sp>
      <p:sp>
        <p:nvSpPr>
          <p:cNvPr id="23" name="Text 21"/>
          <p:cNvSpPr/>
          <p:nvPr/>
        </p:nvSpPr>
        <p:spPr>
          <a:xfrm>
            <a:off x="9640133" y="410110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06</a:t>
            </a:r>
            <a:endParaRPr lang="en-US" sz="1750"/>
          </a:p>
        </p:txBody>
      </p:sp>
      <p:sp>
        <p:nvSpPr>
          <p:cNvPr id="24" name="Shape 22"/>
          <p:cNvSpPr/>
          <p:nvPr/>
        </p:nvSpPr>
        <p:spPr>
          <a:xfrm>
            <a:off x="9640133" y="4456152"/>
            <a:ext cx="4196358" cy="30480"/>
          </a:xfrm>
          <a:prstGeom prst="rect">
            <a:avLst/>
          </a:prstGeom>
          <a:solidFill>
            <a:srgbClr val="D2600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640133" y="46304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2B2E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ListAssets</a:t>
            </a:r>
            <a:endParaRPr lang="en-US" sz="2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640133" y="5120878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Browse all stored reminders</a:t>
            </a:r>
            <a:endParaRPr lang="en-US" sz="1750"/>
          </a:p>
        </p:txBody>
      </p:sp>
      <p:sp>
        <p:nvSpPr>
          <p:cNvPr id="27" name="Text 25"/>
          <p:cNvSpPr/>
          <p:nvPr/>
        </p:nvSpPr>
        <p:spPr>
          <a:xfrm>
            <a:off x="793790" y="588061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07</a:t>
            </a:r>
            <a:endParaRPr lang="en-US" sz="1750"/>
          </a:p>
        </p:txBody>
      </p:sp>
      <p:sp>
        <p:nvSpPr>
          <p:cNvPr id="28" name="Shape 26"/>
          <p:cNvSpPr/>
          <p:nvPr/>
        </p:nvSpPr>
        <p:spPr>
          <a:xfrm>
            <a:off x="793790" y="6235660"/>
            <a:ext cx="13042702" cy="30480"/>
          </a:xfrm>
          <a:prstGeom prst="rect">
            <a:avLst/>
          </a:prstGeom>
          <a:solidFill>
            <a:srgbClr val="D2600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93790" y="64099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2B2E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GetAssetDetails</a:t>
            </a:r>
            <a:endParaRPr lang="en-US" sz="2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93790" y="6900386"/>
            <a:ext cx="13042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complete asset information</a:t>
            </a:r>
            <a:endParaRPr lang="en-US" sz="17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4BDCA3-4267-A28F-995F-055A146D783A}"/>
              </a:ext>
            </a:extLst>
          </p:cNvPr>
          <p:cNvSpPr txBox="1"/>
          <p:nvPr/>
        </p:nvSpPr>
        <p:spPr>
          <a:xfrm>
            <a:off x="673768" y="757989"/>
            <a:ext cx="12332369" cy="654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650">
                <a:solidFill>
                  <a:srgbClr val="2C3F4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Results:</a:t>
            </a:r>
          </a:p>
        </p:txBody>
      </p:sp>
      <p:pic>
        <p:nvPicPr>
          <p:cNvPr id="5" name="Picture 4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6174D7F5-2AE7-CBF2-2695-122400AE7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64104"/>
            <a:ext cx="6858000" cy="20934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2E384D-E5CD-208C-9D87-0D347DB5D04C}"/>
              </a:ext>
            </a:extLst>
          </p:cNvPr>
          <p:cNvSpPr txBox="1"/>
          <p:nvPr/>
        </p:nvSpPr>
        <p:spPr>
          <a:xfrm>
            <a:off x="759649" y="3856985"/>
            <a:ext cx="5271905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DE">
                <a:latin typeface="Open Sans"/>
                <a:ea typeface="Open Sans"/>
                <a:cs typeface="Open Sans"/>
              </a:rPr>
              <a:t>Contacts Details (</a:t>
            </a:r>
            <a:r>
              <a:rPr lang="en-US" sz="220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GetAssetDetails)</a:t>
            </a:r>
            <a:endParaRPr lang="en-US" sz="2200" err="1">
              <a:latin typeface="Open Sans"/>
              <a:ea typeface="Open Sans"/>
              <a:cs typeface="Open Sans"/>
            </a:endParaRPr>
          </a:p>
        </p:txBody>
      </p:sp>
      <p:pic>
        <p:nvPicPr>
          <p:cNvPr id="8" name="Picture 7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96F0C10A-91EC-723E-287F-8531F866D9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537" y="4331111"/>
            <a:ext cx="7567863" cy="28666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4A7D51-2971-02CB-3742-9FEAC77053D3}"/>
              </a:ext>
            </a:extLst>
          </p:cNvPr>
          <p:cNvSpPr txBox="1"/>
          <p:nvPr/>
        </p:nvSpPr>
        <p:spPr>
          <a:xfrm>
            <a:off x="460104" y="7381345"/>
            <a:ext cx="5492052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DE">
                <a:latin typeface="Open Sans"/>
                <a:ea typeface="Open Sans"/>
                <a:cs typeface="Open Sans"/>
              </a:rPr>
              <a:t>Restaurants Suggestions (</a:t>
            </a:r>
            <a:r>
              <a:rPr lang="en-US" sz="2200" err="1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SearchAssets</a:t>
            </a:r>
            <a:r>
              <a:rPr lang="en-US" sz="220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)</a:t>
            </a:r>
            <a:endParaRPr lang="en-GB" sz="2200">
              <a:latin typeface="Open Sans"/>
              <a:ea typeface="Open Sans"/>
              <a:cs typeface="Open Sans"/>
            </a:endParaRPr>
          </a:p>
        </p:txBody>
      </p:sp>
      <p:pic>
        <p:nvPicPr>
          <p:cNvPr id="11" name="Picture 10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AF5A2820-6201-3CED-7F51-A884BFCD5D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564103"/>
            <a:ext cx="6617370" cy="209349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FD7250A-D2B2-7E8A-D865-567D093E6408}"/>
              </a:ext>
            </a:extLst>
          </p:cNvPr>
          <p:cNvSpPr txBox="1"/>
          <p:nvPr/>
        </p:nvSpPr>
        <p:spPr>
          <a:xfrm>
            <a:off x="7935035" y="3851194"/>
            <a:ext cx="6280897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DE">
                <a:latin typeface="Open Sans"/>
                <a:ea typeface="Open Sans"/>
                <a:cs typeface="Open Sans"/>
              </a:rPr>
              <a:t>Places Suggestions (</a:t>
            </a:r>
            <a:r>
              <a:rPr lang="en-US" sz="2200" err="1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SearchRemindersSemantic</a:t>
            </a:r>
            <a:r>
              <a:rPr lang="en-US" sz="220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)</a:t>
            </a:r>
            <a:endParaRPr lang="en-US" sz="2200" err="1">
              <a:latin typeface="Open Sans"/>
              <a:ea typeface="Open Sans"/>
              <a:cs typeface="Open Sans"/>
            </a:endParaRPr>
          </a:p>
          <a:p>
            <a:endParaRPr lang="en-DE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6" name="Picture 15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B0CBB44C-6CD5-A0D3-03B8-1DA4E230B7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668" y="4331110"/>
            <a:ext cx="6755731" cy="286661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4F223A4-72C7-205A-9BE7-99DD3F3A1F1F}"/>
              </a:ext>
            </a:extLst>
          </p:cNvPr>
          <p:cNvSpPr txBox="1"/>
          <p:nvPr/>
        </p:nvSpPr>
        <p:spPr>
          <a:xfrm>
            <a:off x="8217569" y="7373878"/>
            <a:ext cx="5937791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DE">
                <a:latin typeface="Open Sans"/>
                <a:ea typeface="Open Sans"/>
                <a:cs typeface="Open Sans"/>
              </a:rPr>
              <a:t>Next Month Reminders (</a:t>
            </a:r>
            <a:r>
              <a:rPr lang="en-US" sz="220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GetReminders </a:t>
            </a:r>
            <a:r>
              <a:rPr lang="en-DE">
                <a:latin typeface="Open Sans"/>
                <a:ea typeface="Open Sans"/>
                <a:cs typeface="Open Sans"/>
              </a:rPr>
              <a:t>)</a:t>
            </a:r>
            <a:endParaRPr lang="en-GB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331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904042"/>
            <a:ext cx="69840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Semantic Search in Action</a:t>
            </a:r>
            <a:endParaRPr lang="en-US" sz="44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952982"/>
            <a:ext cx="1134070" cy="203275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54674" y="21797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2B2E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Save Time</a:t>
            </a:r>
            <a:endParaRPr lang="en-US" sz="2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2154674" y="2670215"/>
            <a:ext cx="619553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Combined representation of Name, Category, </a:t>
            </a:r>
            <a:r>
              <a:rPr lang="en-US" sz="175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UserInput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Experience, and Tags generates 1,536-dimensional embedding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985736"/>
            <a:ext cx="1134070" cy="16698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54674" y="42125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2B2E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Query Time</a:t>
            </a:r>
            <a:endParaRPr lang="en-US" sz="2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2154674" y="4702969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Query embedding generated and compared against stored embeddings using cosine similarity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655588"/>
            <a:ext cx="1134070" cy="16698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54674" y="58824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2B2E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Ranked Results</a:t>
            </a:r>
            <a:endParaRPr lang="en-US" sz="2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2154674" y="6372820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Similarity threshold 0.25 for semantic queries, 0.75 for structured pipelines</a:t>
            </a:r>
            <a:endParaRPr lang="en-US" sz="1750"/>
          </a:p>
        </p:txBody>
      </p:sp>
      <p:pic>
        <p:nvPicPr>
          <p:cNvPr id="16" name="Picture 15" descr="A computer screen shot of a black screen">
            <a:extLst>
              <a:ext uri="{FF2B5EF4-FFF2-40B4-BE49-F238E27FC236}">
                <a16:creationId xmlns:a16="http://schemas.microsoft.com/office/drawing/2014/main" id="{5366C971-CDB9-9724-93FA-C49942A567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4864" y="1801664"/>
            <a:ext cx="6195536" cy="52969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AF0CD0-D1AA-58E6-6698-C562D35EF715}"/>
              </a:ext>
            </a:extLst>
          </p:cNvPr>
          <p:cNvSpPr txBox="1"/>
          <p:nvPr/>
        </p:nvSpPr>
        <p:spPr>
          <a:xfrm>
            <a:off x="580443" y="717748"/>
            <a:ext cx="3055645" cy="10874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5550"/>
              </a:lnSpc>
            </a:pPr>
            <a:r>
              <a:rPr lang="en-DE" sz="4450" dirty="0">
                <a:solidFill>
                  <a:srgbClr val="2C3F4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File Logger</a:t>
            </a:r>
            <a:endParaRPr lang="en-US" sz="4450" dirty="0">
              <a:solidFill>
                <a:srgbClr val="2C3F4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48A950-8EA4-6CC1-10F0-3A86AC173CAC}"/>
              </a:ext>
            </a:extLst>
          </p:cNvPr>
          <p:cNvSpPr txBox="1"/>
          <p:nvPr/>
        </p:nvSpPr>
        <p:spPr>
          <a:xfrm>
            <a:off x="580444" y="2238233"/>
            <a:ext cx="5155338" cy="4460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FileLogger</a:t>
            </a:r>
            <a:r>
              <a:rPr lang="en-GB" sz="2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records every save, search, embedding call, and error with a timestamp and level</a:t>
            </a:r>
            <a:r>
              <a:rPr lang="en-DE" sz="2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</a:t>
            </a:r>
            <a:r>
              <a:rPr lang="en-GB" sz="2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INFO, WARNING, or ERROR.</a:t>
            </a:r>
            <a:endParaRPr lang="en-DE" sz="2400" dirty="0">
              <a:solidFill>
                <a:srgbClr val="2B2E3C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342900" indent="-342900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DE" sz="2400" dirty="0">
              <a:solidFill>
                <a:srgbClr val="2B2E3C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342900" indent="-342900" algn="just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new log file is created automatically every day, giving us a complete audit trail to trace exactly what happened and when.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150467A-D7DB-AAC9-3401-5E662B32B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9018" y="800636"/>
            <a:ext cx="8631382" cy="662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038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9041" y="96035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2C3F4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Model &amp; Storage</a:t>
            </a:r>
            <a:endParaRPr lang="en-US" sz="445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693313"/>
            <a:ext cx="29170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>
                <a:solidFill>
                  <a:srgbClr val="2C3F42"/>
                </a:solidFill>
                <a:latin typeface="Open Sans"/>
                <a:ea typeface="Open Sans"/>
                <a:cs typeface="Open Sans"/>
              </a:rPr>
              <a:t>Why Flat Files?</a:t>
            </a:r>
            <a:endParaRPr lang="en-US" sz="2200" b="1">
              <a:solidFill>
                <a:srgbClr val="2C3F4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274457"/>
            <a:ext cx="6244709" cy="3458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No database, no ORM, no setup</a:t>
            </a:r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Portable – runs anywhere</a:t>
            </a:r>
          </a:p>
          <a:p>
            <a:pPr marL="342900" indent="-342900">
              <a:lnSpc>
                <a:spcPts val="2850"/>
              </a:lnSpc>
              <a:buSzPct val="100000"/>
              <a:buFont typeface="Arial"/>
              <a:buChar char="•"/>
            </a:pPr>
            <a:r>
              <a:rPr lang="en-US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Two files do everything:</a:t>
            </a:r>
            <a:endParaRPr lang="en-US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800100" lvl="1" indent="-342900">
              <a:lnSpc>
                <a:spcPts val="2850"/>
              </a:lnSpc>
              <a:buFont typeface="Courier New,monospace"/>
              <a:buChar char="o"/>
            </a:pPr>
            <a:r>
              <a:rPr lang="en-US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reminders.csv</a:t>
            </a:r>
            <a:endParaRPr lang="en-US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800100" lvl="1" indent="-342900">
              <a:lnSpc>
                <a:spcPts val="2850"/>
              </a:lnSpc>
              <a:buFont typeface="Courier New,monospace"/>
              <a:buChar char="o"/>
            </a:pPr>
            <a:r>
              <a:rPr lang="en-US" err="1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embeddings.json</a:t>
            </a:r>
            <a:endParaRPr lang="en-US" err="1"/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Split because CSV can't store float[] cleanly- Json can</a:t>
            </a:r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Linked by the same </a:t>
            </a:r>
            <a:r>
              <a:rPr lang="en-US" sz="1750" err="1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Guid</a:t>
            </a: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 per asset</a:t>
            </a:r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endParaRPr lang="en-US" sz="1750">
              <a:solidFill>
                <a:srgbClr val="2B2E3C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99521" y="2693313"/>
            <a:ext cx="29932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2C3F42"/>
                </a:solidFill>
                <a:latin typeface="Open Sans"/>
                <a:ea typeface="Open Sans"/>
                <a:cs typeface="Open Sans"/>
              </a:rPr>
              <a:t>reminder.csv</a:t>
            </a:r>
            <a:endParaRPr lang="en-US" sz="2200">
              <a:solidFill>
                <a:srgbClr val="2C3F4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85766" y="618788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Crash-safe:</a:t>
            </a: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Backup copy created after each write</a:t>
            </a:r>
            <a:endParaRPr lang="en-US" sz="175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7A0D25EA-E647-5BA7-C3EC-E6DDE85A3D27}"/>
              </a:ext>
            </a:extLst>
          </p:cNvPr>
          <p:cNvSpPr/>
          <p:nvPr/>
        </p:nvSpPr>
        <p:spPr>
          <a:xfrm>
            <a:off x="7592796" y="3274456"/>
            <a:ext cx="6244709" cy="862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</a:pP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Id, Name, Category, </a:t>
            </a:r>
            <a:r>
              <a:rPr lang="en-US" sz="1750" err="1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TimelineState</a:t>
            </a: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, </a:t>
            </a:r>
            <a:r>
              <a:rPr lang="en-US" sz="1750" err="1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EventDate</a:t>
            </a: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, </a:t>
            </a:r>
            <a:r>
              <a:rPr lang="en-US" sz="1750" err="1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CreatedAt</a:t>
            </a: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, Tags, Metadata, </a:t>
            </a:r>
            <a:r>
              <a:rPr lang="en-US" sz="1750" err="1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UserInput</a:t>
            </a: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, </a:t>
            </a:r>
            <a:r>
              <a:rPr lang="en-US" sz="1750" err="1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UserExperience</a:t>
            </a:r>
            <a:r>
              <a:rPr lang="en-US" sz="175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, </a:t>
            </a:r>
            <a:r>
              <a:rPr lang="en-US" sz="1750" err="1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PhotoRefs</a:t>
            </a:r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endParaRPr lang="en-US" sz="1750">
              <a:solidFill>
                <a:srgbClr val="2B2E3C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2E1A3EB4-9D95-7139-1C7A-36E888F074D9}"/>
              </a:ext>
            </a:extLst>
          </p:cNvPr>
          <p:cNvSpPr/>
          <p:nvPr/>
        </p:nvSpPr>
        <p:spPr>
          <a:xfrm>
            <a:off x="7599520" y="4654848"/>
            <a:ext cx="29932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err="1">
                <a:solidFill>
                  <a:srgbClr val="2C3F42"/>
                </a:solidFill>
                <a:latin typeface="Open Sans"/>
                <a:ea typeface="Open Sans"/>
                <a:cs typeface="Open Sans"/>
              </a:rPr>
              <a:t>embeddings.json</a:t>
            </a:r>
            <a:endParaRPr lang="en-US" sz="2200" err="1">
              <a:solidFill>
                <a:srgbClr val="2C3F4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67619D65-72DA-8EE0-DDB4-9A0A2B602F5C}"/>
              </a:ext>
            </a:extLst>
          </p:cNvPr>
          <p:cNvSpPr/>
          <p:nvPr/>
        </p:nvSpPr>
        <p:spPr>
          <a:xfrm>
            <a:off x="7592795" y="5162249"/>
            <a:ext cx="6244709" cy="862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50">
                <a:latin typeface="Open Sans"/>
                <a:ea typeface="Open Sans"/>
                <a:cs typeface="Open Sans"/>
              </a:rPr>
              <a:t>{ "5cfd...": [0.012, -0.034, 0.091 ...],</a:t>
            </a:r>
          </a:p>
          <a:p>
            <a:r>
              <a:rPr lang="en-US" sz="1750">
                <a:latin typeface="Open Sans"/>
                <a:ea typeface="Open Sans"/>
                <a:cs typeface="Open Sans"/>
              </a:rPr>
              <a:t>  "c94f...": [-0.003, 0.071, 0.044 ...] }</a:t>
            </a:r>
          </a:p>
          <a:p>
            <a:r>
              <a:rPr lang="en-US" sz="1750" err="1">
                <a:latin typeface="Open Sans"/>
                <a:ea typeface="Open Sans"/>
                <a:cs typeface="Open Sans"/>
              </a:rPr>
              <a:t>Guid</a:t>
            </a:r>
            <a:r>
              <a:rPr lang="en-US" sz="1750">
                <a:latin typeface="Open Sans"/>
                <a:ea typeface="Open Sans"/>
                <a:cs typeface="Open Sans"/>
              </a:rPr>
              <a:t> → float[1536]  •  one entry per asset</a:t>
            </a:r>
            <a:endParaRPr lang="en-US" sz="1750">
              <a:latin typeface="Open Sans"/>
            </a:endParaRPr>
          </a:p>
          <a:p>
            <a:endParaRPr lang="en-US" sz="1750">
              <a:solidFill>
                <a:srgbClr val="2B2E3C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F246AA-EB81-E2CD-B567-19956B0B6CB6}"/>
              </a:ext>
            </a:extLst>
          </p:cNvPr>
          <p:cNvSpPr txBox="1"/>
          <p:nvPr/>
        </p:nvSpPr>
        <p:spPr>
          <a:xfrm>
            <a:off x="7318882" y="2542813"/>
            <a:ext cx="6456537" cy="15035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F91033-070A-CFFA-CA55-541AB5DD90A4}"/>
              </a:ext>
            </a:extLst>
          </p:cNvPr>
          <p:cNvSpPr txBox="1"/>
          <p:nvPr/>
        </p:nvSpPr>
        <p:spPr>
          <a:xfrm>
            <a:off x="7318861" y="4621332"/>
            <a:ext cx="6449195" cy="15625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47ABD7A7-98D0-0B83-4C22-2239C31023BD}"/>
              </a:ext>
            </a:extLst>
          </p:cNvPr>
          <p:cNvSpPr/>
          <p:nvPr/>
        </p:nvSpPr>
        <p:spPr>
          <a:xfrm>
            <a:off x="265177" y="303665"/>
            <a:ext cx="7081778" cy="63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>
                <a:solidFill>
                  <a:srgbClr val="2C3F42"/>
                </a:solidFill>
                <a:latin typeface="Open Sans"/>
                <a:ea typeface="Open Sans"/>
                <a:cs typeface="Open Sans"/>
              </a:rPr>
              <a:t>CSVStorageProvider Structure &amp; Safety Patterns </a:t>
            </a:r>
            <a:endParaRPr lang="en-US" sz="4450">
              <a:solidFill>
                <a:srgbClr val="2C3F4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3F3BAF0E-DD81-F327-4AED-C434AD224436}"/>
              </a:ext>
            </a:extLst>
          </p:cNvPr>
          <p:cNvSpPr/>
          <p:nvPr/>
        </p:nvSpPr>
        <p:spPr>
          <a:xfrm>
            <a:off x="486403" y="1489726"/>
            <a:ext cx="29170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AutoNum type="arabicPeriod"/>
            </a:pPr>
            <a:r>
              <a:rPr lang="en-US" sz="2200">
                <a:solidFill>
                  <a:srgbClr val="2C3F42"/>
                </a:solidFill>
                <a:latin typeface="Open Sans"/>
                <a:ea typeface="Open Sans"/>
                <a:cs typeface="Open Sans"/>
              </a:rPr>
              <a:t>AssetMap – the column mappings</a:t>
            </a:r>
            <a:endParaRPr lang="en-US" sz="2200">
              <a:solidFill>
                <a:srgbClr val="2C3F4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9D2B7-257D-3741-5E07-1BD97B79F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65" y="2046266"/>
            <a:ext cx="5906114" cy="21962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4976E5EB-309A-A5AB-82F5-4CC7266D8D24}"/>
              </a:ext>
            </a:extLst>
          </p:cNvPr>
          <p:cNvSpPr/>
          <p:nvPr/>
        </p:nvSpPr>
        <p:spPr>
          <a:xfrm>
            <a:off x="482574" y="4397876"/>
            <a:ext cx="29170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2C3F42"/>
                </a:solidFill>
                <a:latin typeface="Open Sans"/>
                <a:ea typeface="Open Sans"/>
                <a:cs typeface="Open Sans"/>
              </a:rPr>
              <a:t>2. The </a:t>
            </a:r>
            <a:r>
              <a:rPr lang="en-DE" sz="2200">
                <a:solidFill>
                  <a:srgbClr val="2C3F42"/>
                </a:solidFill>
                <a:latin typeface="Open Sans"/>
                <a:ea typeface="Open Sans"/>
                <a:cs typeface="Open Sans"/>
              </a:rPr>
              <a:t>3</a:t>
            </a:r>
            <a:r>
              <a:rPr lang="en-US" sz="2200">
                <a:solidFill>
                  <a:srgbClr val="2C3F42"/>
                </a:solidFill>
                <a:latin typeface="Open Sans"/>
                <a:ea typeface="Open Sans"/>
                <a:cs typeface="Open Sans"/>
              </a:rPr>
              <a:t> custom converters</a:t>
            </a:r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887253E8-3ADB-B89F-B88B-F16175A36D06}"/>
              </a:ext>
            </a:extLst>
          </p:cNvPr>
          <p:cNvSpPr/>
          <p:nvPr/>
        </p:nvSpPr>
        <p:spPr>
          <a:xfrm>
            <a:off x="7344402" y="1492225"/>
            <a:ext cx="29170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2750"/>
              </a:lnSpc>
              <a:buAutoNum type="arabicPeriod"/>
            </a:pPr>
            <a:r>
              <a:rPr lang="en-US" sz="2200">
                <a:solidFill>
                  <a:srgbClr val="2C3F42"/>
                </a:solidFill>
                <a:latin typeface="Open Sans"/>
                <a:ea typeface="Open Sans"/>
                <a:cs typeface="Open Sans"/>
              </a:rPr>
              <a:t>Atomic Write</a:t>
            </a:r>
            <a:endParaRPr lang="en-US" sz="2200">
              <a:solidFill>
                <a:srgbClr val="2C3F4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5" name="Picture 2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D712919-86C9-6363-DD7E-179408F115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9987" y="2061210"/>
            <a:ext cx="6467475" cy="22479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7" name="Text 1">
            <a:extLst>
              <a:ext uri="{FF2B5EF4-FFF2-40B4-BE49-F238E27FC236}">
                <a16:creationId xmlns:a16="http://schemas.microsoft.com/office/drawing/2014/main" id="{0EFEED8C-E4D3-A7D5-3E0D-16712C203208}"/>
              </a:ext>
            </a:extLst>
          </p:cNvPr>
          <p:cNvSpPr/>
          <p:nvPr/>
        </p:nvSpPr>
        <p:spPr>
          <a:xfrm>
            <a:off x="7350823" y="4573107"/>
            <a:ext cx="29170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>
                <a:solidFill>
                  <a:srgbClr val="2C3F42"/>
                </a:solidFill>
                <a:latin typeface="Open Sans"/>
                <a:ea typeface="Open Sans"/>
                <a:cs typeface="Open Sans"/>
              </a:rPr>
              <a:t>2. Threads Safety (Semaphore Slim)</a:t>
            </a:r>
          </a:p>
        </p:txBody>
      </p:sp>
      <p:pic>
        <p:nvPicPr>
          <p:cNvPr id="29" name="Picture 28" descr="A white background with black and orange text&#10;&#10;AI-generated content may be incorrect.">
            <a:extLst>
              <a:ext uri="{FF2B5EF4-FFF2-40B4-BE49-F238E27FC236}">
                <a16:creationId xmlns:a16="http://schemas.microsoft.com/office/drawing/2014/main" id="{E98AD771-E34C-A42A-CEFF-07D0629C78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2421" y="5188667"/>
            <a:ext cx="7153275" cy="16573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1" name="Text 2">
            <a:extLst>
              <a:ext uri="{FF2B5EF4-FFF2-40B4-BE49-F238E27FC236}">
                <a16:creationId xmlns:a16="http://schemas.microsoft.com/office/drawing/2014/main" id="{BBF3301A-99A1-6EBD-2C46-A1EC2B8673B8}"/>
              </a:ext>
            </a:extLst>
          </p:cNvPr>
          <p:cNvSpPr/>
          <p:nvPr/>
        </p:nvSpPr>
        <p:spPr>
          <a:xfrm>
            <a:off x="484074" y="2050341"/>
            <a:ext cx="6244709" cy="3458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>
              <a:solidFill>
                <a:srgbClr val="2B2E3C"/>
              </a:solidFill>
              <a:latin typeface="Open Sans"/>
              <a:ea typeface="Open Sans"/>
              <a:cs typeface="Open Sans"/>
            </a:endParaRP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7FE879EB-4B5B-B784-3780-5F7A59C7E8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24829"/>
              </p:ext>
            </p:extLst>
          </p:nvPr>
        </p:nvGraphicFramePr>
        <p:xfrm>
          <a:off x="512194" y="4922961"/>
          <a:ext cx="5861980" cy="2786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61980">
                  <a:extLst>
                    <a:ext uri="{9D8B030D-6E8A-4147-A177-3AD203B41FA5}">
                      <a16:colId xmlns:a16="http://schemas.microsoft.com/office/drawing/2014/main" val="3111045676"/>
                    </a:ext>
                  </a:extLst>
                </a:gridCol>
              </a:tblGrid>
              <a:tr h="25117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50" b="1" kern="1200" dirty="0">
                          <a:solidFill>
                            <a:srgbClr val="2B2E3C"/>
                          </a:solidFill>
                        </a:rPr>
                        <a:t>     1. </a:t>
                      </a:r>
                      <a:r>
                        <a:rPr lang="en-US" sz="1750" b="1" kern="1200" dirty="0" err="1">
                          <a:solidFill>
                            <a:srgbClr val="2B2E3C"/>
                          </a:solidFill>
                        </a:rPr>
                        <a:t>ListConverter</a:t>
                      </a:r>
                      <a:endParaRPr lang="en-US" b="1" dirty="0"/>
                    </a:p>
                    <a:p>
                      <a:pPr marL="0" lvl="0" indent="0">
                        <a:buNone/>
                      </a:pPr>
                      <a:r>
                        <a:rPr lang="en-US" sz="1750" kern="1200" dirty="0">
                          <a:solidFill>
                            <a:srgbClr val="ED7D31"/>
                          </a:solidFill>
                        </a:rPr>
                        <a:t>    </a:t>
                      </a:r>
                      <a:r>
                        <a:rPr lang="en-US" sz="1750" kern="1200" dirty="0">
                          <a:solidFill>
                            <a:srgbClr val="4472C4"/>
                          </a:solidFill>
                        </a:rPr>
                        <a:t> "</a:t>
                      </a:r>
                      <a:r>
                        <a:rPr lang="en-US" sz="1750" kern="1200" dirty="0" err="1">
                          <a:solidFill>
                            <a:srgbClr val="4472C4"/>
                          </a:solidFill>
                        </a:rPr>
                        <a:t>paris;travel</a:t>
                      </a:r>
                      <a:r>
                        <a:rPr lang="en-US" sz="1750" kern="1200" dirty="0">
                          <a:solidFill>
                            <a:srgbClr val="4472C4"/>
                          </a:solidFill>
                        </a:rPr>
                        <a:t>" &lt;-&gt; List&lt;string&gt;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sz="1750" b="1" kern="1200" dirty="0">
                          <a:solidFill>
                            <a:srgbClr val="2B2E3C"/>
                          </a:solidFill>
                        </a:rPr>
                        <a:t>     2.DictionaryConverter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sz="1750" kern="1200" dirty="0">
                          <a:solidFill>
                            <a:srgbClr val="70AD47"/>
                          </a:solidFill>
                        </a:rPr>
                        <a:t>     "City=</a:t>
                      </a:r>
                      <a:r>
                        <a:rPr lang="en-US" sz="1750" kern="1200" dirty="0" err="1">
                          <a:solidFill>
                            <a:srgbClr val="70AD47"/>
                          </a:solidFill>
                        </a:rPr>
                        <a:t>Paris|Country</a:t>
                      </a:r>
                      <a:r>
                        <a:rPr lang="en-US" sz="1750" kern="1200" dirty="0">
                          <a:solidFill>
                            <a:srgbClr val="70AD47"/>
                          </a:solidFill>
                        </a:rPr>
                        <a:t>=FR" &lt;-&gt; </a:t>
                      </a:r>
                      <a:r>
                        <a:rPr lang="en-US" sz="1750" kern="1200" dirty="0" err="1">
                          <a:solidFill>
                            <a:srgbClr val="70AD47"/>
                          </a:solidFill>
                        </a:rPr>
                        <a:t>Dict</a:t>
                      </a:r>
                      <a:r>
                        <a:rPr lang="en-US" sz="1750" kern="1200" dirty="0">
                          <a:solidFill>
                            <a:srgbClr val="70AD47"/>
                          </a:solidFill>
                        </a:rPr>
                        <a:t>&lt;</a:t>
                      </a:r>
                      <a:r>
                        <a:rPr lang="en-US" sz="1750" kern="1200" dirty="0" err="1">
                          <a:solidFill>
                            <a:srgbClr val="70AD47"/>
                          </a:solidFill>
                        </a:rPr>
                        <a:t>string,string</a:t>
                      </a:r>
                      <a:r>
                        <a:rPr lang="en-US" sz="1750" kern="1200" dirty="0">
                          <a:solidFill>
                            <a:srgbClr val="70AD47"/>
                          </a:solidFill>
                        </a:rPr>
                        <a:t>&gt;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sz="1750" b="1" kern="1200" dirty="0">
                          <a:solidFill>
                            <a:srgbClr val="2B2E3C"/>
                          </a:solidFill>
                        </a:rPr>
                        <a:t>     3. </a:t>
                      </a:r>
                      <a:r>
                        <a:rPr lang="en-US" sz="1750" b="1" kern="1200" dirty="0" err="1">
                          <a:solidFill>
                            <a:srgbClr val="2B2E3C"/>
                          </a:solidFill>
                        </a:rPr>
                        <a:t>FlexibleDateConverter</a:t>
                      </a:r>
                      <a:endParaRPr lang="en-US" sz="1750" kern="1200" dirty="0">
                        <a:solidFill>
                          <a:srgbClr val="2B2E3C"/>
                        </a:solidFill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en-US" sz="1750" kern="1200" dirty="0">
                          <a:solidFill>
                            <a:srgbClr val="ED7D31"/>
                          </a:solidFill>
                        </a:rPr>
                        <a:t>     Handles 14 date formats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sz="1750" b="1" kern="1200">
                          <a:solidFill>
                            <a:srgbClr val="2B2E3C"/>
                          </a:solidFill>
                        </a:rPr>
                        <a:t>     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279477"/>
                  </a:ext>
                </a:extLst>
              </a:tr>
              <a:tr h="209312"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6742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609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FFC1F8-1D67-9A36-4E2C-59648C17B6E2}"/>
              </a:ext>
            </a:extLst>
          </p:cNvPr>
          <p:cNvSpPr txBox="1"/>
          <p:nvPr/>
        </p:nvSpPr>
        <p:spPr>
          <a:xfrm>
            <a:off x="613611" y="721895"/>
            <a:ext cx="7652084" cy="78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550"/>
              </a:lnSpc>
            </a:pPr>
            <a:r>
              <a:rPr lang="en-DE" sz="4450">
                <a:solidFill>
                  <a:srgbClr val="2C3F4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CSV &amp; JSON Format</a:t>
            </a:r>
            <a:endParaRPr lang="en-GB" sz="4450">
              <a:solidFill>
                <a:srgbClr val="2C3F4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E73B6E-1645-C831-56AD-DF85F2AC8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457" y="2502938"/>
            <a:ext cx="9246075" cy="12256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6D0ED0-D31B-DFCF-47F4-A4B948E74D2C}"/>
              </a:ext>
            </a:extLst>
          </p:cNvPr>
          <p:cNvSpPr txBox="1"/>
          <p:nvPr/>
        </p:nvSpPr>
        <p:spPr>
          <a:xfrm>
            <a:off x="998621" y="1992106"/>
            <a:ext cx="3970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800">
                <a:solidFill>
                  <a:srgbClr val="2C3F4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CSV</a:t>
            </a:r>
            <a:endParaRPr lang="en-GB" sz="2800">
              <a:solidFill>
                <a:srgbClr val="2C3F4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040F0B-E20D-0DE9-E282-6C1C54D646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541" y="4743434"/>
            <a:ext cx="13205563" cy="15304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333770-03C4-8384-3D8E-730EDEFF5C2C}"/>
              </a:ext>
            </a:extLst>
          </p:cNvPr>
          <p:cNvSpPr txBox="1"/>
          <p:nvPr/>
        </p:nvSpPr>
        <p:spPr>
          <a:xfrm>
            <a:off x="1106905" y="4204172"/>
            <a:ext cx="2033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800">
                <a:solidFill>
                  <a:srgbClr val="2C3F4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JSON</a:t>
            </a:r>
            <a:endParaRPr lang="en-GB" sz="2800">
              <a:solidFill>
                <a:srgbClr val="2C3F4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343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7255"/>
            <a:ext cx="740640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2C3F4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Testing &amp; Quality Assurance</a:t>
            </a:r>
            <a:endParaRPr lang="en-US" sz="445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173010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>
                <a:solidFill>
                  <a:srgbClr val="2B2E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  <a:r>
              <a:rPr lang="en-DE" sz="5850">
                <a:solidFill>
                  <a:srgbClr val="2B2E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82</a:t>
            </a:r>
            <a:endParaRPr lang="en-US" sz="585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455420" y="32048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>
                <a:solidFill>
                  <a:srgbClr val="2B2E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Total Tests</a:t>
            </a:r>
            <a:endParaRPr lang="en-US" sz="2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695224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Unit and integration tests combined</a:t>
            </a:r>
            <a:endParaRPr lang="en-US" sz="1750"/>
          </a:p>
        </p:txBody>
      </p:sp>
      <p:sp>
        <p:nvSpPr>
          <p:cNvPr id="6" name="Text 4"/>
          <p:cNvSpPr/>
          <p:nvPr/>
        </p:nvSpPr>
        <p:spPr>
          <a:xfrm>
            <a:off x="5235893" y="2173010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DE" sz="5850">
                <a:solidFill>
                  <a:srgbClr val="2B2E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  <a:endParaRPr lang="en-US" sz="585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897523" y="32048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DE" sz="2200">
                <a:solidFill>
                  <a:srgbClr val="2B2E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Unit Test Sets</a:t>
            </a:r>
            <a:endParaRPr lang="en-US" sz="2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35893" y="3695224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coverage across all operations</a:t>
            </a:r>
            <a:endParaRPr lang="en-US" sz="1750"/>
          </a:p>
        </p:txBody>
      </p:sp>
      <p:sp>
        <p:nvSpPr>
          <p:cNvPr id="9" name="Text 7"/>
          <p:cNvSpPr/>
          <p:nvPr/>
        </p:nvSpPr>
        <p:spPr>
          <a:xfrm>
            <a:off x="9677995" y="2173010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>
                <a:solidFill>
                  <a:srgbClr val="2B2E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endParaRPr lang="en-US" sz="585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339626" y="32048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>
                <a:solidFill>
                  <a:srgbClr val="2B2E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Integration Sets</a:t>
            </a:r>
            <a:endParaRPr lang="en-US" sz="2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77995" y="3695224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 file system testing</a:t>
            </a:r>
            <a:endParaRPr lang="en-US" sz="1750"/>
          </a:p>
        </p:txBody>
      </p:sp>
      <p:sp>
        <p:nvSpPr>
          <p:cNvPr id="12" name="Text 10"/>
          <p:cNvSpPr/>
          <p:nvPr/>
        </p:nvSpPr>
        <p:spPr>
          <a:xfrm>
            <a:off x="793790" y="45400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2C3F4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Unit Test Coverage</a:t>
            </a:r>
            <a:endParaRPr lang="en-US" sz="2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93790" y="5121235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Storage providers (CSV + JSON)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Similarity service edge cases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Date parsing and filtering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Interface contracts via reflection</a:t>
            </a:r>
            <a:endParaRPr lang="en-US" sz="1750"/>
          </a:p>
        </p:txBody>
      </p:sp>
      <p:sp>
        <p:nvSpPr>
          <p:cNvPr id="14" name="Text 12"/>
          <p:cNvSpPr/>
          <p:nvPr/>
        </p:nvSpPr>
        <p:spPr>
          <a:xfrm>
            <a:off x="5268635" y="4540091"/>
            <a:ext cx="29315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2C3F4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Integration Test Areas</a:t>
            </a:r>
            <a:endParaRPr lang="en-US" sz="2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235894" y="5037014"/>
            <a:ext cx="3595286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Attachment workflows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Location queries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Relative time expressions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Special characters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Concurrent write atomicity</a:t>
            </a:r>
            <a:endParaRPr lang="en-US" sz="175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F8049BC-8E72-6321-4F56-407F4D3B9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3791" y="4146960"/>
            <a:ext cx="6196610" cy="4082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367EDD-074B-251F-DBDA-1E367AC57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38297"/>
            <a:ext cx="14630400" cy="10433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622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777</Words>
  <Application>Microsoft Office PowerPoint</Application>
  <PresentationFormat>Custom</PresentationFormat>
  <Paragraphs>140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Bitter Light</vt:lpstr>
      <vt:lpstr>Courier New,monospace</vt:lpstr>
      <vt:lpstr>Arial</vt:lpstr>
      <vt:lpstr>Calibri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Kavya sree thabjul</dc:creator>
  <cp:lastModifiedBy>Aishwarya Sawant</cp:lastModifiedBy>
  <cp:revision>11</cp:revision>
  <dcterms:created xsi:type="dcterms:W3CDTF">2026-03-28T13:31:17Z</dcterms:created>
  <dcterms:modified xsi:type="dcterms:W3CDTF">2026-04-01T21:03:25Z</dcterms:modified>
</cp:coreProperties>
</file>